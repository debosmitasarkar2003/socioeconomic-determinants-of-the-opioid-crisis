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6" r:id="rId9"/>
    <p:sldId id="273" r:id="rId10"/>
    <p:sldId id="277" r:id="rId11"/>
    <p:sldId id="272" r:id="rId12"/>
    <p:sldId id="264" r:id="rId13"/>
    <p:sldId id="265" r:id="rId14"/>
    <p:sldId id="266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31124E-2C08-1DF2-5F2B-AD6CC16D7D3C}" name="Genevieve Avornyo" initials="GA" userId="S::gavornyo@depaul.edu::8102c365-9ba2-40fe-9977-7b23e32be2b1" providerId="AD"/>
  <p188:author id="{738F5AC3-2B86-9F85-610B-76BDE50C456F}" name="Parv Arvindkumar Patel" initials="PP" userId="S::ppate334@depaul.edu::cb56783f-c605-4b9c-99ed-12aeabae67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9F277-B267-B779-1E00-509CB15881E3}" v="11" dt="2026-03-18T02:31:41.675"/>
    <p1510:client id="{4346D517-414D-5D7A-D1B6-323CE35A9C6F}" v="67" dt="2026-03-17T22:08:04.718"/>
    <p1510:client id="{460CCC7F-4245-8F61-3F61-E58492923371}" v="19" dt="2026-03-18T05:09:28.162"/>
    <p1510:client id="{6EEA94EE-8579-55D3-DE9A-2E319E9E3033}" v="8" dt="2026-03-18T00:08:15.565"/>
    <p1510:client id="{805E204B-FF5A-52B1-8D17-E2CEE4A036DB}" v="392" dt="2026-03-19T02:29:35.251"/>
    <p1510:client id="{B16065BE-DA15-87B2-6298-1049169EDAF8}" v="157" dt="2026-03-18T03:51:16.903"/>
    <p1510:client id="{B363D67A-29AE-7957-F2E2-77694AA93FE1}" v="1" dt="2026-03-18T21:16:06.611"/>
    <p1510:client id="{B80C6FA0-AB5A-95DD-1C5E-12D95AAE7823}" v="1206" dt="2026-03-19T02:42:26.769"/>
    <p1510:client id="{F1EEA0EF-0A00-EA7B-9489-4C5621AE003D}" v="17" dt="2026-03-18T00:52:34.913"/>
    <p1510:client id="{FE05331E-3D87-732B-AD2E-FBA94B7A1C82}" v="72" dt="2026-03-18T21:14:48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41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3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6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9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7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37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98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3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3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6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70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105/ajph.2017.304187" TargetMode="External"/><Relationship Id="rId7" Type="http://schemas.openxmlformats.org/officeDocument/2006/relationships/hyperlink" Target="https://www.cdc.gov/overdose-prevention/data-research/facts-stats/us-dispensing-rate-maps.html?CDC_AAref_Val=https://www.cdc.gov/drugoverdose/rxrate-maps/" TargetMode="External"/><Relationship Id="rId2" Type="http://schemas.openxmlformats.org/officeDocument/2006/relationships/hyperlink" Target="https://wonder.cdc.gov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.census.gov/" TargetMode="External"/><Relationship Id="rId5" Type="http://schemas.openxmlformats.org/officeDocument/2006/relationships/hyperlink" Target="https://doi.org/10.1016/j.jrurstud.2018.12.004" TargetMode="External"/><Relationship Id="rId4" Type="http://schemas.openxmlformats.org/officeDocument/2006/relationships/hyperlink" Target="https://doi.org/10.1001/jamanetworkopen.2019.004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Rockwell Condensed"/>
                <a:ea typeface="+mj-lt"/>
                <a:cs typeface="Times New Roman"/>
              </a:rPr>
              <a:t>Socioeconomic Determinants of the Opioid Crisis: A Multi-Method Analysis of U.S. State-Level Data, 2018-2023</a:t>
            </a:r>
            <a:endParaRPr lang="en-US" sz="4000">
              <a:latin typeface="Rockwell Condensed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452" y="4990339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500">
                <a:highlight>
                  <a:srgbClr val="FFFFFF"/>
                </a:highlight>
                <a:latin typeface="Times New Roman"/>
                <a:cs typeface="Times New Roman"/>
              </a:rPr>
              <a:t>Gaby </a:t>
            </a:r>
            <a:r>
              <a:rPr lang="fr-FR" sz="2500" err="1">
                <a:highlight>
                  <a:srgbClr val="FFFFFF"/>
                </a:highlight>
                <a:latin typeface="Times New Roman"/>
                <a:cs typeface="Times New Roman"/>
              </a:rPr>
              <a:t>Somarriba</a:t>
            </a:r>
            <a:r>
              <a:rPr lang="fr-FR" sz="2500">
                <a:highlight>
                  <a:srgbClr val="FFFFFF"/>
                </a:highlight>
                <a:latin typeface="Times New Roman"/>
                <a:cs typeface="Times New Roman"/>
              </a:rPr>
              <a:t>, </a:t>
            </a:r>
            <a:r>
              <a:rPr lang="fr-FR" sz="2500" err="1">
                <a:highlight>
                  <a:srgbClr val="FFFFFF"/>
                </a:highlight>
                <a:latin typeface="Times New Roman"/>
                <a:cs typeface="Times New Roman"/>
              </a:rPr>
              <a:t>Parv</a:t>
            </a:r>
            <a:r>
              <a:rPr lang="fr-FR" sz="2500">
                <a:highlight>
                  <a:srgbClr val="FFFFFF"/>
                </a:highlight>
                <a:latin typeface="Times New Roman"/>
                <a:cs typeface="Times New Roman"/>
              </a:rPr>
              <a:t> Patel, </a:t>
            </a:r>
            <a:r>
              <a:rPr lang="fr-FR" sz="2500" err="1">
                <a:highlight>
                  <a:srgbClr val="FFFFFF"/>
                </a:highlight>
                <a:latin typeface="Times New Roman"/>
                <a:cs typeface="Times New Roman"/>
              </a:rPr>
              <a:t>Genevieve</a:t>
            </a:r>
            <a:r>
              <a:rPr lang="fr-FR" sz="2500">
                <a:highlight>
                  <a:srgbClr val="FFFFFF"/>
                </a:highlight>
                <a:latin typeface="Times New Roman"/>
                <a:cs typeface="Times New Roman"/>
              </a:rPr>
              <a:t> </a:t>
            </a:r>
            <a:r>
              <a:rPr lang="fr-FR" sz="2500" err="1">
                <a:highlight>
                  <a:srgbClr val="FFFFFF"/>
                </a:highlight>
                <a:latin typeface="Times New Roman"/>
                <a:cs typeface="Times New Roman"/>
              </a:rPr>
              <a:t>Avornyo</a:t>
            </a:r>
            <a:r>
              <a:rPr lang="fr-FR" sz="2500">
                <a:highlight>
                  <a:srgbClr val="FFFFFF"/>
                </a:highlight>
                <a:latin typeface="Times New Roman"/>
                <a:cs typeface="Times New Roman"/>
              </a:rPr>
              <a:t>, </a:t>
            </a:r>
            <a:r>
              <a:rPr lang="fr-FR" sz="2500" err="1">
                <a:highlight>
                  <a:srgbClr val="FFFFFF"/>
                </a:highlight>
                <a:latin typeface="Times New Roman"/>
                <a:cs typeface="Times New Roman"/>
              </a:rPr>
              <a:t>Debosmita</a:t>
            </a:r>
            <a:r>
              <a:rPr lang="fr-FR" sz="2500">
                <a:highlight>
                  <a:srgbClr val="FFFFFF"/>
                </a:highlight>
                <a:latin typeface="Times New Roman"/>
                <a:cs typeface="Times New Roman"/>
              </a:rPr>
              <a:t> Sarkar</a:t>
            </a:r>
            <a:endParaRPr lang="en-US" sz="250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57091-CAE0-D181-9A2A-02DBBA36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Rockwell Condensed"/>
                <a:cs typeface="Times New Roman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12D91-4D83-625B-BE39-6AC2D826C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05458"/>
            <a:ext cx="10058400" cy="43667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900">
                <a:latin typeface="Rockwell"/>
                <a:ea typeface="+mn-lt"/>
                <a:cs typeface="Times New Roman"/>
              </a:rPr>
              <a:t>The Opioid Crisis: A Growing Public Health Emergency</a:t>
            </a:r>
            <a:endParaRPr lang="en-US" sz="1900">
              <a:latin typeface="Rockwell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800">
                <a:latin typeface="Rockwell"/>
                <a:ea typeface="+mn-lt"/>
                <a:cs typeface="Times New Roman"/>
              </a:rPr>
              <a:t>Opioid-related deaths have increased dramatically over two decades</a:t>
            </a:r>
            <a:endParaRPr lang="en-US" sz="1800">
              <a:latin typeface="Rockwell"/>
              <a:cs typeface="Times New Roman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 sz="1600">
                <a:latin typeface="Rockwell"/>
                <a:ea typeface="+mn-lt"/>
                <a:cs typeface="Times New Roman"/>
              </a:rPr>
              <a:t>Affects communities across rural and urban areas nationwide</a:t>
            </a:r>
          </a:p>
          <a:p>
            <a:pPr>
              <a:lnSpc>
                <a:spcPct val="150000"/>
              </a:lnSpc>
            </a:pPr>
            <a:r>
              <a:rPr lang="en-US" sz="1800">
                <a:latin typeface="Rockwell"/>
                <a:ea typeface="+mn-lt"/>
                <a:cs typeface="Times New Roman"/>
              </a:rPr>
              <a:t>Beyond Individual Behavior: 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 sz="1600">
                <a:latin typeface="Rockwell"/>
                <a:ea typeface="+mn-lt"/>
                <a:cs typeface="Times New Roman"/>
              </a:rPr>
              <a:t>Social and economic conditions shape risk patterns </a:t>
            </a:r>
          </a:p>
          <a:p>
            <a:pPr>
              <a:lnSpc>
                <a:spcPct val="150000"/>
              </a:lnSpc>
            </a:pPr>
            <a:r>
              <a:rPr lang="en-US" sz="1800">
                <a:latin typeface="Rockwell"/>
                <a:ea typeface="+mn-lt"/>
                <a:cs typeface="Times New Roman"/>
              </a:rPr>
              <a:t>Structural Determinants Matter: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 sz="1600">
                <a:latin typeface="Rockwell"/>
                <a:cs typeface="Times New Roman"/>
              </a:rPr>
              <a:t>Understanding these factors helps identify highest-risk populations </a:t>
            </a:r>
          </a:p>
          <a:p>
            <a:pPr>
              <a:lnSpc>
                <a:spcPct val="150000"/>
              </a:lnSpc>
              <a:buClr>
                <a:srgbClr val="9E3611"/>
              </a:buClr>
            </a:pPr>
            <a:r>
              <a:rPr lang="en-US" sz="1800">
                <a:latin typeface="Rockwell"/>
                <a:cs typeface="Times New Roman"/>
              </a:rPr>
              <a:t>Purpose: </a:t>
            </a:r>
          </a:p>
          <a:p>
            <a:pPr lvl="1">
              <a:lnSpc>
                <a:spcPct val="150000"/>
              </a:lnSpc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 sz="1600">
                <a:latin typeface="Rockwell"/>
                <a:cs typeface="Times New Roman"/>
              </a:rPr>
              <a:t>To identify structural determinants to target interventions</a:t>
            </a:r>
          </a:p>
        </p:txBody>
      </p:sp>
    </p:spTree>
    <p:extLst>
      <p:ext uri="{BB962C8B-B14F-4D97-AF65-F5344CB8AC3E}">
        <p14:creationId xmlns:p14="http://schemas.microsoft.com/office/powerpoint/2010/main" val="133739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CA3F1-1A0F-F978-45D0-B420FE3FD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Rockwell Condensed"/>
                <a:cs typeface="Times New Roman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B3CC4-655C-26DF-3767-C1CC58393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98997"/>
            <a:ext cx="10293723" cy="46222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>
                <a:latin typeface="Rockwell"/>
                <a:ea typeface="+mn-lt"/>
                <a:cs typeface="Times New Roman"/>
              </a:rPr>
              <a:t>Dasgupta, N., Beletsky, L., &amp; Ciccarone, D. (2017). Opioid crisis: no easy fix to its social and economic determinants. American Journal of Public Health, 108(2), 182–186. https://doi.org/10.2105/ajph.2017.304187</a:t>
            </a:r>
            <a:endParaRPr lang="en-US" sz="1600">
              <a:latin typeface="Rockwell"/>
              <a:cs typeface="Times New Roman"/>
            </a:endParaRPr>
          </a:p>
          <a:p>
            <a:pPr lvl="1">
              <a:spcAft>
                <a:spcPts val="0"/>
              </a:spcAft>
              <a:buFont typeface="Courier New" pitchFamily="2" charset="2"/>
              <a:buChar char="o"/>
            </a:pPr>
            <a:r>
              <a:rPr lang="en-US" sz="1600">
                <a:latin typeface="Rockwell"/>
                <a:ea typeface="+mn-lt"/>
                <a:cs typeface="Times New Roman"/>
              </a:rPr>
              <a:t>Argues the epidemic is driven by a "poverty of opportunity" where economic instability increases vulnerability</a:t>
            </a:r>
            <a:endParaRPr lang="en-US" sz="1600">
              <a:latin typeface="Rockwell"/>
              <a:cs typeface="Times New Roman"/>
            </a:endParaRPr>
          </a:p>
          <a:p>
            <a:endParaRPr lang="en-US" sz="1600">
              <a:latin typeface="Rockwell"/>
              <a:ea typeface="+mn-lt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1600">
                <a:latin typeface="Rockwell"/>
                <a:ea typeface="+mn-lt"/>
                <a:cs typeface="Times New Roman"/>
              </a:rPr>
              <a:t>Kiang, M. V., Basu, S., Chen, J., &amp; Alexander, M. J. (2019). Assessment of changes in the geographical distribution of Opioid-Related Mortality across the United States by opioid type, 1999-2016. JAMA Network Open, 2(2), e190040. https://doi.org/10.1001/jamanetworkopen.2019.0040</a:t>
            </a:r>
            <a:endParaRPr lang="en-US" sz="1600">
              <a:latin typeface="Rockwell"/>
              <a:cs typeface="Times New Roman"/>
            </a:endParaRPr>
          </a:p>
          <a:p>
            <a:pPr lvl="1">
              <a:spcAft>
                <a:spcPts val="0"/>
              </a:spcAft>
              <a:buFont typeface="Courier New" pitchFamily="2" charset="2"/>
              <a:buChar char="o"/>
            </a:pPr>
            <a:r>
              <a:rPr lang="en-US" sz="1600">
                <a:latin typeface="Rockwell"/>
                <a:ea typeface="+mn-lt"/>
                <a:cs typeface="Times New Roman"/>
              </a:rPr>
              <a:t>Found that spatial patterns of deaths shifted significantly as the primary drug type moved toward synthetic opioids</a:t>
            </a:r>
            <a:endParaRPr lang="en-US" sz="1600">
              <a:latin typeface="Rockwell"/>
              <a:cs typeface="Times New Roman"/>
            </a:endParaRPr>
          </a:p>
          <a:p>
            <a:endParaRPr lang="en-US" sz="1600">
              <a:latin typeface="Rockwell"/>
              <a:cs typeface="Times New Roman"/>
            </a:endParaRPr>
          </a:p>
          <a:p>
            <a:pPr marL="0" indent="0">
              <a:buNone/>
            </a:pPr>
            <a:r>
              <a:rPr lang="en-US" sz="1600">
                <a:latin typeface="Rockwell"/>
                <a:ea typeface="+mn-lt"/>
                <a:cs typeface="Times New Roman"/>
              </a:rPr>
              <a:t>Monnat, S. M. (2018). The contributions of socioeconomic and opioid supply factors to U.S. drug mortality rates: Urban-rural and within-rural differences. Journal of Rural Studies, 68, 319–335. https://doi.org/10.1016/j.jrurstud.2018.12.004</a:t>
            </a:r>
            <a:endParaRPr lang="en-US" sz="1600">
              <a:latin typeface="Rockwell"/>
              <a:cs typeface="Times New Roman"/>
            </a:endParaRPr>
          </a:p>
          <a:p>
            <a:pPr lvl="1">
              <a:spcAft>
                <a:spcPts val="0"/>
              </a:spcAft>
              <a:buFont typeface="Courier New" pitchFamily="2" charset="2"/>
              <a:buChar char="o"/>
            </a:pPr>
            <a:r>
              <a:rPr lang="en-US" sz="1600">
                <a:latin typeface="Rockwell"/>
                <a:ea typeface="+mn-lt"/>
                <a:cs typeface="Times New Roman"/>
              </a:rPr>
              <a:t>Identified poverty, unemployment, and limited healthcare access as key predictors of drug-related deaths</a:t>
            </a:r>
            <a:endParaRPr lang="en-US" sz="1600">
              <a:latin typeface="Rockwell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821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5879-02E4-12F1-0DB6-19844688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Rockwell Condensed"/>
                <a:cs typeface="Times New Roman"/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27FF-5FD2-2901-DB35-ED7BCA68B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ckwell"/>
                <a:ea typeface="+mn-lt"/>
                <a:cs typeface="Times New Roman"/>
              </a:rPr>
              <a:t>RQ1: Are opioid dispensing rates associated with opioid overdose mortality?</a:t>
            </a:r>
            <a:endParaRPr lang="en-US">
              <a:latin typeface="Rockwell"/>
              <a:cs typeface="Times New Roman"/>
            </a:endParaRPr>
          </a:p>
          <a:p>
            <a:endParaRPr lang="en-US">
              <a:latin typeface="Rockwell"/>
              <a:cs typeface="Times New Roman"/>
            </a:endParaRPr>
          </a:p>
          <a:p>
            <a:r>
              <a:rPr lang="en-US">
                <a:latin typeface="Rockwell"/>
                <a:ea typeface="+mn-lt"/>
                <a:cs typeface="Times New Roman"/>
              </a:rPr>
              <a:t>RQ2: Do socioeconomic indicators (poverty, unemployment, insurance, education) predict differences in mortality across states?</a:t>
            </a:r>
            <a:endParaRPr lang="en-US">
              <a:latin typeface="Rockwell"/>
              <a:cs typeface="Times New Roman"/>
            </a:endParaRPr>
          </a:p>
          <a:p>
            <a:endParaRPr lang="en-US">
              <a:latin typeface="Rockwell"/>
              <a:cs typeface="Times New Roman"/>
            </a:endParaRPr>
          </a:p>
          <a:p>
            <a:r>
              <a:rPr lang="en-US">
                <a:latin typeface="Rockwell"/>
                <a:ea typeface="+mn-lt"/>
                <a:cs typeface="Times New Roman"/>
              </a:rPr>
              <a:t>RQ3: How did state-level mortality patterns change over time between 2018 and 2023?</a:t>
            </a:r>
            <a:endParaRPr lang="en-US">
              <a:latin typeface="Rockwell"/>
              <a:cs typeface="Times New Roman"/>
            </a:endParaRPr>
          </a:p>
          <a:p>
            <a:endParaRPr lang="en-US">
              <a:latin typeface="Rockwell"/>
              <a:cs typeface="Times New Roman"/>
            </a:endParaRPr>
          </a:p>
          <a:p>
            <a:r>
              <a:rPr lang="en-US">
                <a:latin typeface="Rockwell"/>
                <a:ea typeface="+mn-lt"/>
                <a:cs typeface="Times New Roman"/>
              </a:rPr>
              <a:t>RQ4: Are variations in health insurance coverage associated with mortality trends?</a:t>
            </a:r>
            <a:endParaRPr lang="en-US">
              <a:latin typeface="Rockwell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60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6DAF-60F9-44C9-B635-5B48BC583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905" y="110821"/>
            <a:ext cx="10058400" cy="1609344"/>
          </a:xfrm>
        </p:spPr>
        <p:txBody>
          <a:bodyPr>
            <a:normAutofit/>
          </a:bodyPr>
          <a:lstStyle/>
          <a:p>
            <a:r>
              <a:rPr lang="en-US">
                <a:latin typeface="Rockwell Condensed"/>
                <a:cs typeface="Times New Roman"/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62E40-D186-51EC-DFE6-B6E993757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906" y="1388164"/>
            <a:ext cx="10475342" cy="51722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Rockwell"/>
                <a:ea typeface="+mn-lt"/>
                <a:cs typeface="Times New Roman"/>
              </a:rPr>
              <a:t>Data Sources (2018–2023)</a:t>
            </a:r>
          </a:p>
          <a:p>
            <a:pPr lvl="1"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>
                <a:latin typeface="Rockwell"/>
                <a:ea typeface="+mn-lt"/>
                <a:cs typeface="Times New Roman"/>
              </a:rPr>
              <a:t>CDC WONDER (Mortality), CDC Dispensing Maps (Prescriptions), and U.S. Census Bureau ACS (Socioeconomics)</a:t>
            </a:r>
          </a:p>
          <a:p>
            <a:pPr lvl="1"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>
                <a:latin typeface="Rockwell"/>
                <a:ea typeface="+mn-lt"/>
                <a:cs typeface="Times New Roman"/>
              </a:rPr>
              <a:t>N = 254 state-year observations covering 50 states and the District of Columbia</a:t>
            </a:r>
            <a:endParaRPr lang="en-US">
              <a:latin typeface="Rockwell"/>
              <a:cs typeface="Times New Roman"/>
            </a:endParaRPr>
          </a:p>
          <a:p>
            <a:pPr lvl="1"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>
                <a:latin typeface="Rockwell"/>
                <a:ea typeface="+mn-lt"/>
                <a:cs typeface="Times New Roman"/>
              </a:rPr>
              <a:t>*2020 excluded due to COVID-19 data collection suspension</a:t>
            </a:r>
          </a:p>
          <a:p>
            <a:r>
              <a:rPr lang="en-US">
                <a:latin typeface="Rockwell"/>
                <a:ea typeface="+mn-lt"/>
                <a:cs typeface="Times New Roman"/>
              </a:rPr>
              <a:t>Variables</a:t>
            </a:r>
            <a:endParaRPr lang="en-US">
              <a:latin typeface="Rockwell"/>
              <a:cs typeface="Times New Roman"/>
            </a:endParaRPr>
          </a:p>
          <a:p>
            <a:pPr lvl="1"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>
                <a:latin typeface="Rockwell"/>
                <a:ea typeface="+mn-lt"/>
                <a:cs typeface="Times New Roman"/>
              </a:rPr>
              <a:t>Dependent: State opioid death rate (per 100,000)</a:t>
            </a:r>
          </a:p>
          <a:p>
            <a:pPr lvl="1">
              <a:buClr>
                <a:srgbClr val="9E3611"/>
              </a:buClr>
              <a:buFont typeface="Courier New" pitchFamily="2" charset="2"/>
              <a:buChar char="o"/>
            </a:pPr>
            <a:r>
              <a:rPr lang="en-US">
                <a:latin typeface="Rockwell"/>
                <a:ea typeface="+mn-lt"/>
                <a:cs typeface="Times New Roman"/>
              </a:rPr>
              <a:t>Independent: Median income, poverty rate, unemployment, % uninsured, educational attainment</a:t>
            </a:r>
          </a:p>
          <a:p>
            <a:pPr lvl="1">
              <a:buClr>
                <a:srgbClr val="9E3611"/>
              </a:buClr>
              <a:buFont typeface="Courier New" pitchFamily="2" charset="2"/>
              <a:buChar char="o"/>
            </a:pPr>
            <a:r>
              <a:rPr lang="en-US">
                <a:latin typeface="Rockwell"/>
                <a:ea typeface="+mn-lt"/>
                <a:cs typeface="Times New Roman"/>
              </a:rPr>
              <a:t>Control: Year (categorical)</a:t>
            </a:r>
          </a:p>
          <a:p>
            <a:r>
              <a:rPr lang="en-US">
                <a:latin typeface="Rockwell"/>
                <a:ea typeface="+mn-lt"/>
                <a:cs typeface="Times New Roman"/>
              </a:rPr>
              <a:t>Analytical Methods</a:t>
            </a:r>
          </a:p>
          <a:p>
            <a:pPr lvl="1"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>
                <a:latin typeface="Rockwell"/>
                <a:cs typeface="Times New Roman"/>
              </a:rPr>
              <a:t>Spearman Correlations</a:t>
            </a:r>
          </a:p>
          <a:p>
            <a:pPr lvl="1"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>
                <a:latin typeface="Rockwell"/>
                <a:cs typeface="Times New Roman"/>
              </a:rPr>
              <a:t>Temporal Trend Analysis</a:t>
            </a:r>
          </a:p>
          <a:p>
            <a:pPr lvl="1"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>
                <a:latin typeface="Rockwell"/>
                <a:cs typeface="Times New Roman"/>
              </a:rPr>
              <a:t>Random Forest Regression</a:t>
            </a:r>
          </a:p>
          <a:p>
            <a:pPr lvl="1">
              <a:spcAft>
                <a:spcPts val="0"/>
              </a:spcAft>
              <a:buClr>
                <a:srgbClr val="9E3611"/>
              </a:buClr>
              <a:buFont typeface="Courier New" pitchFamily="2" charset="2"/>
              <a:buChar char="o"/>
            </a:pPr>
            <a:r>
              <a:rPr lang="en-US">
                <a:latin typeface="Rockwell"/>
                <a:cs typeface="Times New Roman"/>
              </a:rPr>
              <a:t>Pandemic Impact</a:t>
            </a:r>
          </a:p>
        </p:txBody>
      </p:sp>
    </p:spTree>
    <p:extLst>
      <p:ext uri="{BB962C8B-B14F-4D97-AF65-F5344CB8AC3E}">
        <p14:creationId xmlns:p14="http://schemas.microsoft.com/office/powerpoint/2010/main" val="3558333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9A6D-A35C-4A7F-FB74-181ADF197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42961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/>
            </a:br>
            <a:br>
              <a:rPr lang="en-US"/>
            </a:br>
            <a:r>
              <a:rPr lang="en-US">
                <a:solidFill>
                  <a:srgbClr val="000000"/>
                </a:solidFill>
                <a:latin typeface="Rockwell Condensed"/>
                <a:cs typeface="Times New Roman"/>
              </a:rPr>
              <a:t>Results </a:t>
            </a:r>
            <a:endParaRPr lang="en-US">
              <a:latin typeface="Rockwell Condensed"/>
            </a:endParaRPr>
          </a:p>
          <a:p>
            <a:endParaRPr lang="en-US">
              <a:solidFill>
                <a:srgbClr val="000000"/>
              </a:solidFill>
              <a:latin typeface="Rockwell Condensed"/>
              <a:cs typeface="Times New Roman"/>
            </a:endParaRPr>
          </a:p>
          <a:p>
            <a:endParaRPr lang="en-US">
              <a:latin typeface="Rockwell Condensed"/>
              <a:cs typeface="Times New Roman"/>
            </a:endParaRPr>
          </a:p>
        </p:txBody>
      </p:sp>
      <p:pic>
        <p:nvPicPr>
          <p:cNvPr id="5" name="Content Placeholder 4" descr="A graph showing the amount of poverty&#10;&#10;AI-generated content may be incorrect.">
            <a:extLst>
              <a:ext uri="{FF2B5EF4-FFF2-40B4-BE49-F238E27FC236}">
                <a16:creationId xmlns:a16="http://schemas.microsoft.com/office/drawing/2014/main" id="{6B78DD3B-02B2-4272-5949-F82FC4824B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56" b="5816"/>
          <a:stretch>
            <a:fillRect/>
          </a:stretch>
        </p:blipFill>
        <p:spPr>
          <a:xfrm>
            <a:off x="339165" y="1713750"/>
            <a:ext cx="7093071" cy="438881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CF509-856C-AEA8-4C74-D000E061C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46469" y="1839657"/>
            <a:ext cx="4170333" cy="287117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latin typeface="Rockwell"/>
                <a:ea typeface="+mn-lt"/>
                <a:cs typeface="Times New Roman"/>
              </a:rPr>
              <a:t>Each point represents a state-year observation. Bubble size represents the state population. Points are color-coded by year (light = 2018, dark = 2023). The red line shows an overall linear relationship across all years</a:t>
            </a:r>
          </a:p>
          <a:p>
            <a:pPr>
              <a:buClr>
                <a:srgbClr val="9E3611"/>
              </a:buClr>
            </a:pPr>
            <a:r>
              <a:rPr lang="en-US" sz="1600">
                <a:latin typeface="Rockwell"/>
                <a:ea typeface="+mn-lt"/>
                <a:cs typeface="Times New Roman"/>
              </a:rPr>
              <a:t>Poverty rates demonstrated strong positive correlation with death rates across all years, with states experiencing higher poverty consistently showing elevated mortality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6299F-29B4-BC5A-52CF-EBB0FA75DF06}"/>
              </a:ext>
            </a:extLst>
          </p:cNvPr>
          <p:cNvSpPr txBox="1"/>
          <p:nvPr/>
        </p:nvSpPr>
        <p:spPr>
          <a:xfrm>
            <a:off x="458884" y="6296765"/>
            <a:ext cx="803544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Figure 1. Correlation Between Poverty Rate and Opioid Death Rate by State (2018-2023)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56564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61397-6D27-97B6-B076-1BE05130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8573-03EB-E6B8-9C3F-C9E852D7B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42961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/>
            </a:br>
            <a:br>
              <a:rPr lang="en-US"/>
            </a:br>
            <a:r>
              <a:rPr lang="en-US">
                <a:solidFill>
                  <a:srgbClr val="000000"/>
                </a:solidFill>
                <a:latin typeface="Rockwell Condensed"/>
                <a:cs typeface="Times New Roman"/>
              </a:rPr>
              <a:t>Results </a:t>
            </a:r>
            <a:endParaRPr lang="en-US">
              <a:latin typeface="Rockwell Condensed"/>
            </a:endParaRPr>
          </a:p>
          <a:p>
            <a:endParaRPr lang="en-US">
              <a:solidFill>
                <a:srgbClr val="000000"/>
              </a:solidFill>
              <a:latin typeface="Rockwell Condensed"/>
              <a:cs typeface="Times New Roman"/>
            </a:endParaRPr>
          </a:p>
          <a:p>
            <a:endParaRPr lang="en-US">
              <a:latin typeface="Rockwell Condensed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6F7F-7205-DE7F-52F3-5BE638D07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36031" y="1818781"/>
            <a:ext cx="4170333" cy="31530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highlight>
                  <a:srgbClr val="FFFFFF"/>
                </a:highlight>
                <a:latin typeface="Rockwell"/>
                <a:ea typeface="+mn-lt"/>
                <a:cs typeface="Times New Roman"/>
              </a:rPr>
              <a:t>Each point represents a state-year observation. Points are color-coded by year.  The blue line shows an overall linear relationship. </a:t>
            </a:r>
          </a:p>
          <a:p>
            <a:pPr>
              <a:buClr>
                <a:srgbClr val="9E3611"/>
              </a:buClr>
            </a:pPr>
            <a:r>
              <a:rPr lang="en-US" sz="1600">
                <a:highlight>
                  <a:srgbClr val="FFFFFF"/>
                </a:highlight>
                <a:latin typeface="Rockwell"/>
                <a:ea typeface="+mn-lt"/>
                <a:cs typeface="Times New Roman"/>
              </a:rPr>
              <a:t>States with higher percentages of uninsured residents consistently showed elevated death rates.</a:t>
            </a:r>
          </a:p>
        </p:txBody>
      </p:sp>
      <p:pic>
        <p:nvPicPr>
          <p:cNvPr id="7" name="Content Placeholder 6" descr="A graph showing a number of blue dots&#10;&#10;AI-generated content may be incorrect.">
            <a:extLst>
              <a:ext uri="{FF2B5EF4-FFF2-40B4-BE49-F238E27FC236}">
                <a16:creationId xmlns:a16="http://schemas.microsoft.com/office/drawing/2014/main" id="{D9B239C5-2641-35E6-6200-D698BDE486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65" b="4657"/>
          <a:stretch>
            <a:fillRect/>
          </a:stretch>
        </p:blipFill>
        <p:spPr>
          <a:xfrm>
            <a:off x="485300" y="1818092"/>
            <a:ext cx="7197461" cy="40549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1F3B0-9AFB-DF25-F961-CBC7E3BA9415}"/>
              </a:ext>
            </a:extLst>
          </p:cNvPr>
          <p:cNvSpPr txBox="1"/>
          <p:nvPr/>
        </p:nvSpPr>
        <p:spPr>
          <a:xfrm>
            <a:off x="599836" y="6168990"/>
            <a:ext cx="69811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Figure 2. Health Insurance and Opioid Mortality Across States (2018-2023)</a:t>
            </a:r>
            <a:endParaRPr lang="en-US" sz="160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426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04D85EF-66B2-8CC1-CD2A-CD57938480AE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7429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>
                <a:solidFill>
                  <a:srgbClr val="000000"/>
                </a:solidFill>
                <a:latin typeface="Rockwell Condensed"/>
                <a:cs typeface="Times New Roman"/>
              </a:rPr>
              <a:t>Results </a:t>
            </a:r>
            <a:endParaRPr lang="en-US">
              <a:latin typeface="Rockwell Condensed"/>
            </a:endParaRPr>
          </a:p>
          <a:p>
            <a:endParaRPr lang="en-US">
              <a:solidFill>
                <a:srgbClr val="000000"/>
              </a:solidFill>
              <a:latin typeface="Rockwell Condensed"/>
              <a:cs typeface="Times New Roman"/>
            </a:endParaRPr>
          </a:p>
          <a:p>
            <a:endParaRPr lang="en-US">
              <a:latin typeface="Rockwell Condensed"/>
              <a:cs typeface="Times New Roman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710875D-4B4B-2E8E-FF6D-748CAF139A42}"/>
              </a:ext>
            </a:extLst>
          </p:cNvPr>
          <p:cNvSpPr txBox="1">
            <a:spLocks/>
          </p:cNvSpPr>
          <p:nvPr/>
        </p:nvSpPr>
        <p:spPr>
          <a:xfrm>
            <a:off x="8190935" y="1818781"/>
            <a:ext cx="3815429" cy="315300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highlight>
                  <a:srgbClr val="FFFFFF"/>
                </a:highlight>
                <a:latin typeface="Rockwell"/>
                <a:ea typeface="+mn-lt"/>
                <a:cs typeface="Times New Roman"/>
              </a:rPr>
              <a:t>States grouped by percentage with bachelor's degree or high. Each panel shows a different year, revealing temporal trends in protective effects of education. </a:t>
            </a:r>
          </a:p>
          <a:p>
            <a:pPr>
              <a:buClr>
                <a:srgbClr val="9E3611"/>
              </a:buClr>
            </a:pPr>
            <a:r>
              <a:rPr lang="en-US" sz="1600">
                <a:highlight>
                  <a:srgbClr val="FFFFFF"/>
                </a:highlight>
                <a:latin typeface="Rockwell"/>
                <a:ea typeface="+mn-lt"/>
                <a:cs typeface="Times New Roman"/>
              </a:rPr>
              <a:t>States in the lowest education quartile (fewer than 28% with bachelor's degree) consistently demonstrated median death rates exceeding 30 per 100,000, while highest-education states (over 35% with bachelor's degree) maintained median rates below 20 per 100,000.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85209-4FB5-F972-CC55-84E68DB622B7}"/>
              </a:ext>
            </a:extLst>
          </p:cNvPr>
          <p:cNvSpPr txBox="1"/>
          <p:nvPr/>
        </p:nvSpPr>
        <p:spPr>
          <a:xfrm>
            <a:off x="599836" y="6283812"/>
            <a:ext cx="77118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Figure 3. Education Attainment and Opioid Death Rate Relationship (2018-2023)</a:t>
            </a:r>
            <a:endParaRPr lang="en-US" sz="16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EBC7BA-978C-71CD-3549-865CCC788E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50" b="4740"/>
          <a:stretch>
            <a:fillRect/>
          </a:stretch>
        </p:blipFill>
        <p:spPr>
          <a:xfrm>
            <a:off x="598118" y="1552184"/>
            <a:ext cx="7237968" cy="460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1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71AA1-F08B-9A40-EC52-AC35011D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B0DD-ABA6-23E7-4C0E-4EA70A5F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Results </a:t>
            </a:r>
          </a:p>
          <a:p>
            <a:endParaRPr lang="en-US" sz="4900">
              <a:solidFill>
                <a:srgbClr val="0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C16F1-6853-010B-440E-F3767448F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37703" y="2309382"/>
            <a:ext cx="3930250" cy="413421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9E3611"/>
              </a:buClr>
            </a:pPr>
            <a:r>
              <a:rPr lang="en-US" sz="1600">
                <a:latin typeface="Rockwell"/>
                <a:ea typeface="+mn-lt"/>
                <a:cs typeface="Times New Roman"/>
              </a:rPr>
              <a:t>States grouped by 2023 median household income quartiles. Lines show median death rate (not mean) to reduce influence of outlier states. Diverging trends indicate widening income-based disparities.</a:t>
            </a:r>
          </a:p>
          <a:p>
            <a:pPr>
              <a:buClr>
                <a:srgbClr val="9E3611"/>
              </a:buClr>
            </a:pPr>
            <a:r>
              <a:rPr lang="en-US" sz="1600">
                <a:latin typeface="Rockwell"/>
                <a:cs typeface="Times New Roman"/>
              </a:rPr>
              <a:t>Lowest-income states experienced steeper mortality increases from 2018 to 2023, rising from median 24 per 100,000 to 38 per 100,000 (58% increase). In contrast, highest-income states showed more modest increases, from median 14 per 100,000 to 19 per 100,000 (36% increase). 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A50D16-F21D-EA0A-A1D5-10B7697362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-156" b="5445"/>
          <a:stretch>
            <a:fillRect/>
          </a:stretch>
        </p:blipFill>
        <p:spPr>
          <a:xfrm>
            <a:off x="370478" y="1982347"/>
            <a:ext cx="6435065" cy="3984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6C3F5D-9A65-BC8D-C026-74F07AB44AD5}"/>
              </a:ext>
            </a:extLst>
          </p:cNvPr>
          <p:cNvSpPr txBox="1"/>
          <p:nvPr/>
        </p:nvSpPr>
        <p:spPr>
          <a:xfrm>
            <a:off x="599836" y="6283812"/>
            <a:ext cx="77118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Figure 4. Temporal Trends in Opioid Mortality by State Income Level (2018-2023)</a:t>
            </a:r>
            <a:endParaRPr lang="en-US" sz="160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775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977F21-F7C0-6F83-4102-4D1A93124963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Results </a:t>
            </a:r>
          </a:p>
          <a:p>
            <a:endParaRPr lang="en-US" sz="490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E75541F-F0A8-BE15-FFC0-41D1FACF12A3}"/>
              </a:ext>
            </a:extLst>
          </p:cNvPr>
          <p:cNvSpPr txBox="1">
            <a:spLocks/>
          </p:cNvSpPr>
          <p:nvPr/>
        </p:nvSpPr>
        <p:spPr>
          <a:xfrm>
            <a:off x="7762812" y="2309382"/>
            <a:ext cx="3805141" cy="412619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E3611"/>
              </a:buClr>
            </a:pPr>
            <a:r>
              <a:rPr lang="en-US" sz="1600">
                <a:highlight>
                  <a:srgbClr val="FFFFFF"/>
                </a:highlight>
                <a:latin typeface="Rockwell"/>
                <a:ea typeface="+mn-lt"/>
                <a:cs typeface="Times New Roman"/>
              </a:rPr>
              <a:t>Spearman correlations coefficients: Red indicates positive correlation; blue indicates negative.</a:t>
            </a:r>
            <a:endParaRPr lang="en-US"/>
          </a:p>
          <a:p>
            <a:pPr>
              <a:buClr>
                <a:srgbClr val="9E3611"/>
              </a:buClr>
            </a:pPr>
            <a:r>
              <a:rPr lang="en-US" sz="1600">
                <a:highlight>
                  <a:srgbClr val="FFFFFF"/>
                </a:highlight>
                <a:latin typeface="Rockwell"/>
                <a:ea typeface="+mn-lt"/>
                <a:cs typeface="Times New Roman"/>
              </a:rPr>
              <a:t> Educational attainment shows the strongest protective association (rho = -0.67). Based on 254 state-year observations.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AA452-31DB-4684-9E1C-AEAF1945B272}"/>
              </a:ext>
            </a:extLst>
          </p:cNvPr>
          <p:cNvSpPr txBox="1"/>
          <p:nvPr/>
        </p:nvSpPr>
        <p:spPr>
          <a:xfrm>
            <a:off x="279575" y="6438421"/>
            <a:ext cx="901664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highlight>
                  <a:srgbClr val="FFFFFF"/>
                </a:highlight>
                <a:latin typeface="Times New Roman"/>
                <a:cs typeface="Times New Roman"/>
              </a:rPr>
              <a:t>Figure 5. Correlation Matrix of Socioeconomic Factors and Opioid Mortality (2018-2023)</a:t>
            </a:r>
            <a:endParaRPr lang="en-US" sz="160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pic>
        <p:nvPicPr>
          <p:cNvPr id="10" name="Picture 9" descr="A red and blue squares with white text&#10;&#10;AI-generated content may be incorrect.">
            <a:extLst>
              <a:ext uri="{FF2B5EF4-FFF2-40B4-BE49-F238E27FC236}">
                <a16:creationId xmlns:a16="http://schemas.microsoft.com/office/drawing/2014/main" id="{BD272497-9941-8F02-7C3F-59ACE55C0C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68" r="209" b="11710"/>
          <a:stretch>
            <a:fillRect/>
          </a:stretch>
        </p:blipFill>
        <p:spPr>
          <a:xfrm>
            <a:off x="912812" y="1528184"/>
            <a:ext cx="5794386" cy="475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00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C3A20C-51A0-B06C-A2F3-CD7B7409C5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b="7371"/>
          <a:stretch>
            <a:fillRect/>
          </a:stretch>
        </p:blipFill>
        <p:spPr>
          <a:xfrm>
            <a:off x="631437" y="1578959"/>
            <a:ext cx="6926057" cy="445729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DEDE2-6776-9747-74E6-5D8C18E5D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09100" y="1576856"/>
            <a:ext cx="3763237" cy="428219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9E3611"/>
              </a:buClr>
            </a:pPr>
            <a:endParaRPr lang="en-US" sz="1600">
              <a:ea typeface="+mn-lt"/>
              <a:cs typeface="+mn-lt"/>
            </a:endParaRPr>
          </a:p>
          <a:p>
            <a:pPr>
              <a:buClr>
                <a:srgbClr val="9E3611"/>
              </a:buClr>
            </a:pPr>
            <a:r>
              <a:rPr lang="en-US" sz="1600">
                <a:highlight>
                  <a:srgbClr val="FFFFFF"/>
                </a:highlight>
                <a:latin typeface="Rockwell"/>
                <a:ea typeface="+mn-lt"/>
                <a:cs typeface="Times New Roman"/>
              </a:rPr>
              <a:t>Higher values indicate stronger predictive power</a:t>
            </a:r>
            <a:endParaRPr lang="en-US" sz="1600">
              <a:latin typeface="Rockwell"/>
              <a:ea typeface="+mn-lt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1600">
                <a:highlight>
                  <a:srgbClr val="FFFFFF"/>
                </a:highlight>
                <a:latin typeface="Rockwell"/>
                <a:ea typeface="+mn-lt"/>
                <a:cs typeface="Times New Roman"/>
              </a:rPr>
              <a:t>Educational attainment emerged as the most important feature, with removal of this variable increasing prediction error by 42%. Median income ranked second (38% increase in error), followed by poverty rate (36%) and percentage uninsured (31%). Year as predictor showed substantial importance (29%)</a:t>
            </a:r>
          </a:p>
          <a:p>
            <a:pPr>
              <a:buClr>
                <a:srgbClr val="9E3611"/>
              </a:buClr>
            </a:pP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Model trained on 70% of data using 500 decision trees</a:t>
            </a:r>
          </a:p>
          <a:p>
            <a:pPr>
              <a:buClr>
                <a:srgbClr val="9E3611"/>
              </a:buClr>
            </a:pPr>
            <a:endParaRPr lang="en-US" sz="120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29BE3-EA9F-5590-F173-F5206952210F}"/>
              </a:ext>
            </a:extLst>
          </p:cNvPr>
          <p:cNvSpPr txBox="1"/>
          <p:nvPr/>
        </p:nvSpPr>
        <p:spPr>
          <a:xfrm>
            <a:off x="626301" y="6393493"/>
            <a:ext cx="93110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Figure 6. Random Forest Variable Importance for Predicting Opioid Mortality (2018-2023)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9A45314-A5A5-96EF-5F60-E6E764E1170F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7429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>
                <a:solidFill>
                  <a:srgbClr val="000000"/>
                </a:solidFill>
                <a:latin typeface="Rockwell Condensed"/>
                <a:cs typeface="Times New Roman"/>
              </a:rPr>
              <a:t>Results </a:t>
            </a:r>
            <a:endParaRPr lang="en-US">
              <a:latin typeface="Rockwell Condensed"/>
            </a:endParaRPr>
          </a:p>
          <a:p>
            <a:endParaRPr lang="en-US">
              <a:solidFill>
                <a:srgbClr val="000000"/>
              </a:solidFill>
              <a:latin typeface="Rockwell Condensed"/>
              <a:cs typeface="Times New Roman"/>
            </a:endParaRPr>
          </a:p>
          <a:p>
            <a:endParaRPr lang="en-US">
              <a:latin typeface="Rockwell Condensed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394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2160-B009-FCB9-E4AC-FB462E26E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5981F-AF13-6872-1458-ECF699C98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Ecological Fallacy: Data is aggregated at the state level; results cannot be applied to specific individuals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Unmeasured Variables: Study does not account for local drug market purity, specific state policies, or treatment facility counts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Gap: The 2020 ACS data was unavailable due to pandemic-related collection suspensions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Interpretation: Correlations show associations but do not definitively prove direct causation for every instance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53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BE2F-BF09-B9DB-4FFF-F2CFE2B53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A4616-AFBE-9510-C4B2-6ECE5F79B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Local Granularity: Move analysis from state-level to county or metropolitan area levels to see within-state disparities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Policy Analysis: Evaluate the impact of Medicaid expansion and specific harm-reduction programs (e.g., needle exchanges) on these trends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Illicit Supply Dynamics: Investigate how the specific prevalence of fentanyl in local markets interacts with economic distress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Longitudinal Recovery: Study how communities recover economically post-pandemic and if mortality rates follow that recovery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55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F0865-11BC-B5B7-43F2-A6C1B3D5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B073-6CE2-F04D-D913-863316C35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Structural Roots: Opioid mortality is driven more by poverty, education, and healthcare access than by prescription dispensing rates alone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Protective Factors: High educational attainment and economic security act as significant buffers against the escalation of the crisis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Systemic Response Needed: Effective public health strategies must move beyond clinical treatment to address economic justice and structural inequality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73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D9678-1806-8F63-4A8A-C740DF59F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US">
              <a:latin typeface="Rockwell Condense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753AC-BB7D-ADC6-8AAF-BF7A017F2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600" i="1">
                <a:highlight>
                  <a:srgbClr val="FFFFFF"/>
                </a:highlight>
                <a:latin typeface="Rockwell"/>
                <a:cs typeface="Times New Roman"/>
              </a:rPr>
              <a:t>CDC WONDER</a:t>
            </a: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. (n.d.). </a:t>
            </a:r>
            <a:r>
              <a:rPr lang="en-US" sz="1600" u="sng">
                <a:highlight>
                  <a:srgbClr val="FFFFFF"/>
                </a:highlight>
                <a:latin typeface="Rockwell"/>
                <a:cs typeface="Times New Roman"/>
                <a:hlinkClick r:id="rId2"/>
              </a:rPr>
              <a:t>https://wonder.cdc.gov/</a:t>
            </a:r>
            <a:endParaRPr lang="en-US" sz="1600">
              <a:highlight>
                <a:srgbClr val="FFFFFF"/>
              </a:highlight>
              <a:latin typeface="Rockwell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Dasgupta, N., Beletsky, L., &amp; Ciccarone, D. (2017). Opioid crisis: no easy fix to its social and economic determinants. </a:t>
            </a:r>
            <a:r>
              <a:rPr lang="en-US" sz="1600" i="1">
                <a:highlight>
                  <a:srgbClr val="FFFFFF"/>
                </a:highlight>
                <a:latin typeface="Rockwell"/>
                <a:cs typeface="Times New Roman"/>
              </a:rPr>
              <a:t>American Journal of Public Health</a:t>
            </a: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, </a:t>
            </a:r>
            <a:r>
              <a:rPr lang="en-US" sz="1600" i="1">
                <a:highlight>
                  <a:srgbClr val="FFFFFF"/>
                </a:highlight>
                <a:latin typeface="Rockwell"/>
                <a:cs typeface="Times New Roman"/>
              </a:rPr>
              <a:t>108</a:t>
            </a: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(2), 182–186. </a:t>
            </a:r>
            <a:r>
              <a:rPr lang="en-US" sz="1600" u="sng">
                <a:highlight>
                  <a:srgbClr val="FFFFFF"/>
                </a:highlight>
                <a:latin typeface="Rockwell"/>
                <a:cs typeface="Times New Roman"/>
                <a:hlinkClick r:id="rId3"/>
              </a:rPr>
              <a:t>https://doi.org/10.2105/ajph.2017.304187</a:t>
            </a:r>
            <a:endParaRPr lang="en-US" sz="1600">
              <a:highlight>
                <a:srgbClr val="FFFFFF"/>
              </a:highlight>
              <a:latin typeface="Rockwell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Kiang, M. V., Basu, S., Chen, J., &amp; Alexander, M. J. (2019). Assessment of changes in the geographical distribution of Opioid-Related Mortality across the United States by opioid type, 1999-2016. </a:t>
            </a:r>
            <a:r>
              <a:rPr lang="en-US" sz="1600" i="1">
                <a:highlight>
                  <a:srgbClr val="FFFFFF"/>
                </a:highlight>
                <a:latin typeface="Rockwell"/>
                <a:cs typeface="Times New Roman"/>
              </a:rPr>
              <a:t>JAMA Network Open</a:t>
            </a: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, </a:t>
            </a:r>
            <a:r>
              <a:rPr lang="en-US" sz="1600" i="1">
                <a:highlight>
                  <a:srgbClr val="FFFFFF"/>
                </a:highlight>
                <a:latin typeface="Rockwell"/>
                <a:cs typeface="Times New Roman"/>
              </a:rPr>
              <a:t>2</a:t>
            </a: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(2), e190040. </a:t>
            </a:r>
            <a:r>
              <a:rPr lang="en-US" sz="1600" u="sng">
                <a:highlight>
                  <a:srgbClr val="FFFFFF"/>
                </a:highlight>
                <a:latin typeface="Rockwell"/>
                <a:cs typeface="Times New Roman"/>
                <a:hlinkClick r:id="rId4"/>
              </a:rPr>
              <a:t>https://doi.org/10.1001/jamanetworkopen.2019.0040</a:t>
            </a:r>
            <a:endParaRPr lang="en-US" sz="1600">
              <a:highlight>
                <a:srgbClr val="FFFFFF"/>
              </a:highlight>
              <a:latin typeface="Rockwell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Monnat, S. M. (2018). The contributions of socioeconomic and opioid supply factors to U.S. drug mortality rates: Urban-rural and within-rural differences. </a:t>
            </a:r>
            <a:r>
              <a:rPr lang="en-US" sz="1600" i="1">
                <a:highlight>
                  <a:srgbClr val="FFFFFF"/>
                </a:highlight>
                <a:latin typeface="Rockwell"/>
                <a:cs typeface="Times New Roman"/>
              </a:rPr>
              <a:t>Journal of Rural Studies</a:t>
            </a: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, </a:t>
            </a:r>
            <a:r>
              <a:rPr lang="en-US" sz="1600" i="1">
                <a:highlight>
                  <a:srgbClr val="FFFFFF"/>
                </a:highlight>
                <a:latin typeface="Rockwell"/>
                <a:cs typeface="Times New Roman"/>
              </a:rPr>
              <a:t>68</a:t>
            </a: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, 319–335. </a:t>
            </a:r>
            <a:r>
              <a:rPr lang="en-US" sz="1600" u="sng">
                <a:highlight>
                  <a:srgbClr val="FFFFFF"/>
                </a:highlight>
                <a:latin typeface="Rockwell"/>
                <a:cs typeface="Times New Roman"/>
                <a:hlinkClick r:id="rId5"/>
              </a:rPr>
              <a:t>https://doi.org/10.1016/j.jrurstud.2018.12.004</a:t>
            </a:r>
            <a:endParaRPr lang="en-US" sz="1600">
              <a:highlight>
                <a:srgbClr val="FFFFFF"/>
              </a:highlight>
              <a:latin typeface="Rockwell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U.S. Census Bureau. (n.d.). </a:t>
            </a:r>
            <a:r>
              <a:rPr lang="en-US" sz="1600" i="1">
                <a:highlight>
                  <a:srgbClr val="FFFFFF"/>
                </a:highlight>
                <a:latin typeface="Rockwell"/>
                <a:cs typeface="Times New Roman"/>
              </a:rPr>
              <a:t>Census Bureau data</a:t>
            </a: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. </a:t>
            </a:r>
            <a:r>
              <a:rPr lang="en-US" sz="1600" u="sng">
                <a:highlight>
                  <a:srgbClr val="FFFFFF"/>
                </a:highlight>
                <a:latin typeface="Rockwell"/>
                <a:cs typeface="Times New Roman"/>
                <a:hlinkClick r:id="rId6"/>
              </a:rPr>
              <a:t>https://data.census.gov/</a:t>
            </a:r>
            <a:endParaRPr lang="en-US" sz="1600" u="sng">
              <a:highlight>
                <a:srgbClr val="FFFFFF"/>
              </a:highlight>
              <a:latin typeface="Rockwell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1600" i="1">
                <a:highlight>
                  <a:srgbClr val="FFFFFF"/>
                </a:highlight>
                <a:latin typeface="Rockwell"/>
                <a:cs typeface="Times New Roman"/>
              </a:rPr>
              <a:t>United States dispensing rate maps</a:t>
            </a: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</a:rPr>
              <a:t>. (2026, February 11). Overdose Prevention. </a:t>
            </a:r>
            <a:r>
              <a:rPr lang="en-US" sz="1600">
                <a:highlight>
                  <a:srgbClr val="FFFFFF"/>
                </a:highlight>
                <a:latin typeface="Rockwell"/>
                <a:cs typeface="Times New Roman"/>
                <a:hlinkClick r:id="rId7"/>
              </a:rPr>
              <a:t>https://www.cdc.gov/overdose-prevention/data-research/facts-stats/us-dispensing-rate-maps.html</a:t>
            </a:r>
            <a:endParaRPr lang="en-US" sz="1600">
              <a:highlight>
                <a:srgbClr val="FFFFFF"/>
              </a:highlight>
              <a:latin typeface="Rockwell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36447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Wood Type</vt:lpstr>
      <vt:lpstr>Socioeconomic Determinants of the Opioid Crisis: A Multi-Method Analysis of U.S. State-Level Data, 2018-2023</vt:lpstr>
      <vt:lpstr>Introduction</vt:lpstr>
      <vt:lpstr>Literature Review</vt:lpstr>
      <vt:lpstr>Research Questions</vt:lpstr>
      <vt:lpstr>Methods</vt:lpstr>
      <vt:lpstr>  Results   </vt:lpstr>
      <vt:lpstr>  Results   </vt:lpstr>
      <vt:lpstr>PowerPoint Presentation</vt:lpstr>
      <vt:lpstr>Results  </vt:lpstr>
      <vt:lpstr>PowerPoint Presentation</vt:lpstr>
      <vt:lpstr>PowerPoint Presentation</vt:lpstr>
      <vt:lpstr>Limitations</vt:lpstr>
      <vt:lpstr>Future Work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2026-03-17T17:42:57Z</dcterms:created>
  <dcterms:modified xsi:type="dcterms:W3CDTF">2026-04-01T23:30:30Z</dcterms:modified>
</cp:coreProperties>
</file>